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C4416DB-DECB-B587-4104-C762B2361FB4}">
          <p14:sldIdLst>
            <p14:sldId id="256"/>
            <p14:sldId id="257"/>
          </p14:sldIdLst>
        </p14:section>
        <p14:section name="Method" id="{9AE23D53-B106-15C6-1BC7-00704AE9FEAA}">
          <p14:sldIdLst>
            <p14:sldId id="258"/>
            <p14:sldId id="259"/>
            <p14:sldId id="260"/>
            <p14:sldId id="261"/>
            <p14:sldId id="262"/>
          </p14:sldIdLst>
        </p14:section>
        <p14:section name="Results" id="{21F53DA2-2ECC-FFFD-1FBC-399D7334446A}">
          <p14:sldIdLst>
            <p14:sldId id="263"/>
            <p14:sldId id="264"/>
            <p14:sldId id="265"/>
            <p14:sldId id="266"/>
          </p14:sldIdLst>
        </p14:section>
        <p14:section name="Discussion" id="{C1CBD467-AD38-04B8-07ED-8E017DBB12C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19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4688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CS656 Reinforcement Learning  |  Cliff Walking: Sarsa vs Q-learning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0" y="10972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Cliff Walking: Sarsa vs Q-learning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468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CS656 Reinforcement Learning  |  Programming Assignment, Part I, Problem 8</a:t>
            </a:r>
            <a:endParaRPr lang="en-US" sz="18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Sutton &amp; Barto, Example 6.6 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dirty="0"/>
          </a:p>
          <a:p>
            <a:pPr marL="0" indent="0" algn="l">
              <a:spcAft>
                <a:spcPts val="600"/>
              </a:spcAft>
              <a:buNone/>
            </a:pPr>
            <a:endParaRPr lang="en-US" sz="18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dirty="0"/>
              <a:t>Submitted</a:t>
            </a:r>
            <a:r>
              <a:rPr lang="en-US" sz="1800" dirty="0">
                <a:solidFill>
                  <a:schemeClr val="bg2"/>
                </a:solidFill>
              </a:rPr>
              <a:t> by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Santhoshkumar Anbalagan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Problem Statement: The Cliff Walking Gridworld</a:t>
            </a:r>
            <a:endParaRPr lang="en-US" sz="2400" dirty="0"/>
          </a:p>
        </p:txBody>
      </p:sp>
      <p:graphicFrame>
        <p:nvGraphicFramePr>
          <p:cNvPr id="3" name="MD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114800" cy="33741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Element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Grid cells (row, column), 4 × 12 = 48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Actions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Up, Down, Left, Right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 for every step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Cliff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−100 and return to start 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Termination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 reaches goal 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Discount γ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(episodic task)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Step size α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Exploration ε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ell 0,0"/>
          <p:cNvSpPr/>
          <p:nvPr/>
        </p:nvSpPr>
        <p:spPr>
          <a:xfrm>
            <a:off x="493776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cell 0,1"/>
          <p:cNvSpPr/>
          <p:nvPr/>
        </p:nvSpPr>
        <p:spPr>
          <a:xfrm>
            <a:off x="525018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cell 0,2"/>
          <p:cNvSpPr/>
          <p:nvPr/>
        </p:nvSpPr>
        <p:spPr>
          <a:xfrm>
            <a:off x="556260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cell 0,3"/>
          <p:cNvSpPr/>
          <p:nvPr/>
        </p:nvSpPr>
        <p:spPr>
          <a:xfrm>
            <a:off x="587502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cell 0,4"/>
          <p:cNvSpPr/>
          <p:nvPr/>
        </p:nvSpPr>
        <p:spPr>
          <a:xfrm>
            <a:off x="618744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cell 0,5"/>
          <p:cNvSpPr/>
          <p:nvPr/>
        </p:nvSpPr>
        <p:spPr>
          <a:xfrm>
            <a:off x="649986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cell 0,6"/>
          <p:cNvSpPr/>
          <p:nvPr/>
        </p:nvSpPr>
        <p:spPr>
          <a:xfrm>
            <a:off x="681228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cell 0,7"/>
          <p:cNvSpPr/>
          <p:nvPr/>
        </p:nvSpPr>
        <p:spPr>
          <a:xfrm>
            <a:off x="712470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cell 0,8"/>
          <p:cNvSpPr/>
          <p:nvPr/>
        </p:nvSpPr>
        <p:spPr>
          <a:xfrm>
            <a:off x="743712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cell 0,9"/>
          <p:cNvSpPr/>
          <p:nvPr/>
        </p:nvSpPr>
        <p:spPr>
          <a:xfrm>
            <a:off x="774954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cell 0,10"/>
          <p:cNvSpPr/>
          <p:nvPr/>
        </p:nvSpPr>
        <p:spPr>
          <a:xfrm>
            <a:off x="806196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cell 0,11"/>
          <p:cNvSpPr/>
          <p:nvPr/>
        </p:nvSpPr>
        <p:spPr>
          <a:xfrm>
            <a:off x="8374380" y="114300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cell 1,0"/>
          <p:cNvSpPr/>
          <p:nvPr/>
        </p:nvSpPr>
        <p:spPr>
          <a:xfrm>
            <a:off x="493776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cell 1,1"/>
          <p:cNvSpPr/>
          <p:nvPr/>
        </p:nvSpPr>
        <p:spPr>
          <a:xfrm>
            <a:off x="525018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cell 1,2"/>
          <p:cNvSpPr/>
          <p:nvPr/>
        </p:nvSpPr>
        <p:spPr>
          <a:xfrm>
            <a:off x="556260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cell 1,3"/>
          <p:cNvSpPr/>
          <p:nvPr/>
        </p:nvSpPr>
        <p:spPr>
          <a:xfrm>
            <a:off x="587502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cell 1,4"/>
          <p:cNvSpPr/>
          <p:nvPr/>
        </p:nvSpPr>
        <p:spPr>
          <a:xfrm>
            <a:off x="618744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cell 1,5"/>
          <p:cNvSpPr/>
          <p:nvPr/>
        </p:nvSpPr>
        <p:spPr>
          <a:xfrm>
            <a:off x="649986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cell 1,6"/>
          <p:cNvSpPr/>
          <p:nvPr/>
        </p:nvSpPr>
        <p:spPr>
          <a:xfrm>
            <a:off x="681228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cell 1,7"/>
          <p:cNvSpPr/>
          <p:nvPr/>
        </p:nvSpPr>
        <p:spPr>
          <a:xfrm>
            <a:off x="712470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cell 1,8"/>
          <p:cNvSpPr/>
          <p:nvPr/>
        </p:nvSpPr>
        <p:spPr>
          <a:xfrm>
            <a:off x="743712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cell 1,9"/>
          <p:cNvSpPr/>
          <p:nvPr/>
        </p:nvSpPr>
        <p:spPr>
          <a:xfrm>
            <a:off x="774954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cell 1,10"/>
          <p:cNvSpPr/>
          <p:nvPr/>
        </p:nvSpPr>
        <p:spPr>
          <a:xfrm>
            <a:off x="806196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cell 1,11"/>
          <p:cNvSpPr/>
          <p:nvPr/>
        </p:nvSpPr>
        <p:spPr>
          <a:xfrm>
            <a:off x="8374380" y="145542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cell 2,0"/>
          <p:cNvSpPr/>
          <p:nvPr/>
        </p:nvSpPr>
        <p:spPr>
          <a:xfrm>
            <a:off x="493776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cell 2,1"/>
          <p:cNvSpPr/>
          <p:nvPr/>
        </p:nvSpPr>
        <p:spPr>
          <a:xfrm>
            <a:off x="525018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cell 2,2"/>
          <p:cNvSpPr/>
          <p:nvPr/>
        </p:nvSpPr>
        <p:spPr>
          <a:xfrm>
            <a:off x="556260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cell 2,3"/>
          <p:cNvSpPr/>
          <p:nvPr/>
        </p:nvSpPr>
        <p:spPr>
          <a:xfrm>
            <a:off x="587502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cell 2,4"/>
          <p:cNvSpPr/>
          <p:nvPr/>
        </p:nvSpPr>
        <p:spPr>
          <a:xfrm>
            <a:off x="618744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3" name="cell 2,5"/>
          <p:cNvSpPr/>
          <p:nvPr/>
        </p:nvSpPr>
        <p:spPr>
          <a:xfrm>
            <a:off x="649986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cell 2,6"/>
          <p:cNvSpPr/>
          <p:nvPr/>
        </p:nvSpPr>
        <p:spPr>
          <a:xfrm>
            <a:off x="681228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cell 2,7"/>
          <p:cNvSpPr/>
          <p:nvPr/>
        </p:nvSpPr>
        <p:spPr>
          <a:xfrm>
            <a:off x="712470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6" name="cell 2,8"/>
          <p:cNvSpPr/>
          <p:nvPr/>
        </p:nvSpPr>
        <p:spPr>
          <a:xfrm>
            <a:off x="743712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7" name="cell 2,9"/>
          <p:cNvSpPr/>
          <p:nvPr/>
        </p:nvSpPr>
        <p:spPr>
          <a:xfrm>
            <a:off x="774954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8" name="cell 2,10"/>
          <p:cNvSpPr/>
          <p:nvPr/>
        </p:nvSpPr>
        <p:spPr>
          <a:xfrm>
            <a:off x="806196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cell 2,11"/>
          <p:cNvSpPr/>
          <p:nvPr/>
        </p:nvSpPr>
        <p:spPr>
          <a:xfrm>
            <a:off x="8374380" y="176784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cell 3,0"/>
          <p:cNvSpPr/>
          <p:nvPr/>
        </p:nvSpPr>
        <p:spPr>
          <a:xfrm>
            <a:off x="4937760" y="208026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cell 3,1"/>
          <p:cNvSpPr/>
          <p:nvPr/>
        </p:nvSpPr>
        <p:spPr>
          <a:xfrm>
            <a:off x="525018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2" name="cell 3,2"/>
          <p:cNvSpPr/>
          <p:nvPr/>
        </p:nvSpPr>
        <p:spPr>
          <a:xfrm>
            <a:off x="556260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cell 3,3"/>
          <p:cNvSpPr/>
          <p:nvPr/>
        </p:nvSpPr>
        <p:spPr>
          <a:xfrm>
            <a:off x="587502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cell 3,4"/>
          <p:cNvSpPr/>
          <p:nvPr/>
        </p:nvSpPr>
        <p:spPr>
          <a:xfrm>
            <a:off x="618744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cell 3,5"/>
          <p:cNvSpPr/>
          <p:nvPr/>
        </p:nvSpPr>
        <p:spPr>
          <a:xfrm>
            <a:off x="649986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cell 3,6"/>
          <p:cNvSpPr/>
          <p:nvPr/>
        </p:nvSpPr>
        <p:spPr>
          <a:xfrm>
            <a:off x="681228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cell 3,7"/>
          <p:cNvSpPr/>
          <p:nvPr/>
        </p:nvSpPr>
        <p:spPr>
          <a:xfrm>
            <a:off x="712470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cell 3,8"/>
          <p:cNvSpPr/>
          <p:nvPr/>
        </p:nvSpPr>
        <p:spPr>
          <a:xfrm>
            <a:off x="743712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cell 3,9"/>
          <p:cNvSpPr/>
          <p:nvPr/>
        </p:nvSpPr>
        <p:spPr>
          <a:xfrm>
            <a:off x="774954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cell 3,10"/>
          <p:cNvSpPr/>
          <p:nvPr/>
        </p:nvSpPr>
        <p:spPr>
          <a:xfrm>
            <a:off x="8061960" y="2080260"/>
            <a:ext cx="312420" cy="31242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cell 3,11"/>
          <p:cNvSpPr/>
          <p:nvPr/>
        </p:nvSpPr>
        <p:spPr>
          <a:xfrm>
            <a:off x="8374380" y="2080260"/>
            <a:ext cx="312420" cy="3124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937760" y="2080260"/>
            <a:ext cx="31242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8374380" y="2080260"/>
            <a:ext cx="31242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5250180" y="2080260"/>
            <a:ext cx="31242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The Cliff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4937760" y="2484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3"/>
                </a:solidFill>
              </a:rPr>
              <a:t>R = −1 on every move; R = −100 on the cliff</a:t>
            </a:r>
            <a:endParaRPr lang="en-US" sz="1100" dirty="0"/>
          </a:p>
        </p:txBody>
      </p:sp>
      <p:sp>
        <p:nvSpPr>
          <p:cNvPr id="56" name="tension card"/>
          <p:cNvSpPr/>
          <p:nvPr/>
        </p:nvSpPr>
        <p:spPr>
          <a:xfrm>
            <a:off x="4937760" y="3017520"/>
            <a:ext cx="374904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074920" y="3108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The key tension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shortest path runs right next to the cliff. With ε-greedy exploration, walking there risks a −100 fall. Do the two algorithms agree on which path is best?</a:t>
            </a:r>
            <a:endParaRPr lang="en-US" sz="14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ε-Greedy Action Selection</a:t>
            </a:r>
            <a:endParaRPr lang="en-US" sz="2400" dirty="0"/>
          </a:p>
        </p:txBody>
      </p:sp>
      <p:sp>
        <p:nvSpPr>
          <p:cNvPr id="3" name="formula card"/>
          <p:cNvSpPr/>
          <p:nvPr/>
        </p:nvSpPr>
        <p:spPr>
          <a:xfrm>
            <a:off x="457200" y="1005840"/>
            <a:ext cx="822960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π(a | s) = 1 − ε + ε/|A|     if a = argmax Q(s, a′)      (greedy action)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π(a | s) = ε/|A|                   otherwise                              (each other action)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With probability 1 − ε the agent exploits (greedy); with probability ε it explores by picking one of the |A| actions uniformly at random.</a:t>
            </a:r>
            <a:endParaRPr lang="en-US" sz="1200" dirty="0"/>
          </a:p>
        </p:txBody>
      </p:sp>
      <p:sp>
        <p:nvSpPr>
          <p:cNvPr id="6" name="prob tile 0"/>
          <p:cNvSpPr/>
          <p:nvPr/>
        </p:nvSpPr>
        <p:spPr>
          <a:xfrm>
            <a:off x="457200" y="2514600"/>
            <a:ext cx="192024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0.925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Greedy action</a:t>
            </a:r>
            <a:endParaRPr lang="en-US" sz="1200" dirty="0"/>
          </a:p>
        </p:txBody>
      </p:sp>
      <p:sp>
        <p:nvSpPr>
          <p:cNvPr id="9" name="prob tile 1"/>
          <p:cNvSpPr/>
          <p:nvPr/>
        </p:nvSpPr>
        <p:spPr>
          <a:xfrm>
            <a:off x="2560320" y="2514600"/>
            <a:ext cx="1920240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0.025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Other action 1</a:t>
            </a:r>
            <a:endParaRPr lang="en-US" sz="1200" dirty="0"/>
          </a:p>
        </p:txBody>
      </p:sp>
      <p:sp>
        <p:nvSpPr>
          <p:cNvPr id="12" name="prob tile 2"/>
          <p:cNvSpPr/>
          <p:nvPr/>
        </p:nvSpPr>
        <p:spPr>
          <a:xfrm>
            <a:off x="4663440" y="2514600"/>
            <a:ext cx="1920240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0.025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Other action 2</a:t>
            </a:r>
            <a:endParaRPr lang="en-US" sz="1200" dirty="0"/>
          </a:p>
        </p:txBody>
      </p:sp>
      <p:sp>
        <p:nvSpPr>
          <p:cNvPr id="15" name="prob tile 3"/>
          <p:cNvSpPr/>
          <p:nvPr/>
        </p:nvSpPr>
        <p:spPr>
          <a:xfrm>
            <a:off x="6766560" y="2514600"/>
            <a:ext cx="1920240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0.025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Other action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With |A| = 4 and ε = 0.1:  each other action = 0.1 × ¼ = 0.025.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greedy action is reached two ways: exploit (0.9) or explore and pick it by chance (0.025), so 0.9 + 0.025 = 0.925.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Check: 0.925 + 3 × 0.025 = 1.000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The Two Update Rules</a:t>
            </a:r>
            <a:endParaRPr lang="en-US" sz="2400" dirty="0"/>
          </a:p>
        </p:txBody>
      </p:sp>
      <p:sp>
        <p:nvSpPr>
          <p:cNvPr id="3" name="sarsa card"/>
          <p:cNvSpPr/>
          <p:nvPr/>
        </p:nvSpPr>
        <p:spPr>
          <a:xfrm>
            <a:off x="457200" y="1005840"/>
            <a:ext cx="402336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arsa card header"/>
          <p:cNvSpPr/>
          <p:nvPr/>
        </p:nvSpPr>
        <p:spPr>
          <a:xfrm>
            <a:off x="457200" y="1005840"/>
            <a:ext cx="402336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Sarsa (on-policy)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Q(S,A) ← Q(S,A) + α [ R + γ Q(S′,A′) − Q(S,A) ]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A′ is the action actually chosen in S′ by the ε-greedy policy. Sarsa learns the value of the policy it is following, exploration included.</a:t>
            </a:r>
            <a:endParaRPr lang="en-US" sz="1400" dirty="0"/>
          </a:p>
        </p:txBody>
      </p:sp>
      <p:sp>
        <p:nvSpPr>
          <p:cNvPr id="8" name="qlearning card"/>
          <p:cNvSpPr/>
          <p:nvPr/>
        </p:nvSpPr>
        <p:spPr>
          <a:xfrm>
            <a:off x="4663440" y="1005840"/>
            <a:ext cx="402336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qlearning card header"/>
          <p:cNvSpPr/>
          <p:nvPr/>
        </p:nvSpPr>
        <p:spPr>
          <a:xfrm>
            <a:off x="4663440" y="1005840"/>
            <a:ext cx="40233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Q-learning (off-policy)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08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Q(S,A) ← Q(S,A) + α [ R + γ max Q(S′,a) − Q(S,A) ]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2860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target uses the best next action (greedy), whatever action is actually taken. Q-learning learns the value of the optimal policy.</a:t>
            </a:r>
            <a:endParaRPr lang="en-US" sz="1400" dirty="0"/>
          </a:p>
        </p:txBody>
      </p:sp>
      <p:sp>
        <p:nvSpPr>
          <p:cNvPr id="13" name="difference banner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The only difference:  Q(S′, A′)  versus  max Q(S′, a)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Worked Illustration of One Update</a:t>
            </a:r>
            <a:endParaRPr lang="en-US" sz="2400" dirty="0"/>
          </a:p>
        </p:txBody>
      </p:sp>
      <p:sp>
        <p:nvSpPr>
          <p:cNvPr id="3" name="setup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8755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Setup: agent is in a cell just above the cliff and moves right (R = −1, α = 0.5, γ = 1). Q(S, right) = −10. At S′: Q(S′, right) = −8 (best), Q(S′, down) = −40 (cliff direction).</a:t>
            </a:r>
            <a:endParaRPr lang="en-US" sz="1150" dirty="0"/>
          </a:p>
        </p:txBody>
      </p:sp>
      <p:sp>
        <p:nvSpPr>
          <p:cNvPr id="5" name="q calc card"/>
          <p:cNvSpPr/>
          <p:nvPr/>
        </p:nvSpPr>
        <p:spPr>
          <a:xfrm>
            <a:off x="457200" y="164592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q calc card header"/>
          <p:cNvSpPr/>
          <p:nvPr/>
        </p:nvSpPr>
        <p:spPr>
          <a:xfrm>
            <a:off x="457200" y="1645920"/>
            <a:ext cx="40233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Q-learning: always uses the max (−8)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 = −10 + 0.5 [ −1 + (−8) − (−10) 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 = −10 + 0.5 [ −9 + 10 ]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 = −10 + 0.5 (1)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   = −9.5</a:t>
            </a:r>
            <a:endParaRPr lang="en-US" sz="1400" dirty="0"/>
          </a:p>
        </p:txBody>
      </p:sp>
      <p:sp>
        <p:nvSpPr>
          <p:cNvPr id="9" name="s calc card"/>
          <p:cNvSpPr/>
          <p:nvPr/>
        </p:nvSpPr>
        <p:spPr>
          <a:xfrm>
            <a:off x="4663440" y="164592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 calc card header"/>
          <p:cNvSpPr/>
          <p:nvPr/>
        </p:nvSpPr>
        <p:spPr>
          <a:xfrm>
            <a:off x="4663440" y="1645920"/>
            <a:ext cx="402336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Sarsa: random “down” at S′ (P = 0.025)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488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 = −10 + 0.5 [ −1 + (−40) − (−10) 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 = −10 + 0.5 [ −1 − 40 + 10 ]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 = −10 + 0.5 (−31) = −10 − 15.5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= −25.5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416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Sarsa’s estimate for the edge cell is pulled down every time exploration takes the bad action, so it learns that the edge is dangerous. Q-learning ignores those bad outcomes in its target.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Path Lengths and the Risk of Falling</a:t>
            </a:r>
            <a:endParaRPr lang="en-US" sz="2400" dirty="0"/>
          </a:p>
        </p:txBody>
      </p:sp>
      <p:graphicFrame>
        <p:nvGraphicFramePr>
          <p:cNvPr id="7" name="pa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1521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Path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Moves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Return (no falls)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Optimal (cliff edge)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up + 11 right + 1 down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Safer (top row)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up + 11 right + 3 down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isk card"/>
          <p:cNvSpPr/>
          <p:nvPr/>
        </p:nvSpPr>
        <p:spPr>
          <a:xfrm>
            <a:off x="457200" y="2331720"/>
            <a:ext cx="8229600" cy="2331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risk card header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23317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 the edge path is risky under ε-greedy (ε = 0.1)</a:t>
            </a:r>
            <a:endParaRPr lang="en-US" sz="1400" dirty="0"/>
          </a:p>
        </p:txBody>
      </p:sp>
      <p:sp>
        <p:nvSpPr>
          <p:cNvPr id="3" name="Text 4"/>
          <p:cNvSpPr txBox="1"/>
          <p:nvPr/>
        </p:nvSpPr>
        <p:spPr>
          <a:xfrm>
            <a:off x="640080" y="2807208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At each of the 10 cells above the cliff, a random move is “down” with probability ε/|A| = 0.025.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P(no fall) = (1 − 0.025)^10 ≈ 0.776,  so P(at least one fall) ≈ 0.224.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Expected failed attempts before success ≈ 1/0.776 − 1 ≈ 0.29, each costing about −106.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Expected return ≈ −13 + 0.29 × (−106) ≈ −44; random detours push this towards the simulated ≈ −50.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 the safer path the agent stays far from the cliff, so falls are very rare (simulated ≈ −27).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Implementation</a:t>
            </a:r>
            <a:endParaRPr lang="en-US" sz="2400" dirty="0"/>
          </a:p>
        </p:txBody>
      </p:sp>
      <p:sp>
        <p:nvSpPr>
          <p:cNvPr id="3" name="algo card"/>
          <p:cNvSpPr/>
          <p:nvPr/>
        </p:nvSpPr>
        <p:spPr>
          <a:xfrm>
            <a:off x="457200" y="1005840"/>
            <a:ext cx="411480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lgo card header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Algorithm (per episode)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Initialise Q(s, a) = 0 for all states and actions.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Start at S; choose A with ε-greedy.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Take A; observe R and S′.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Choose A′ from S′ with ε-greedy.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Update Q(S, A) with the Sarsa or Q-learning target.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S ← S′, A ← A′; repeat until G is reached.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Record the sum of rewards for the episode.</a:t>
            </a:r>
            <a:endParaRPr lang="en-US" sz="1400" dirty="0"/>
          </a:p>
        </p:txBody>
      </p:sp>
      <p:graphicFrame>
        <p:nvGraphicFramePr>
          <p:cNvPr id="8" name="setu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393192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Episodes per run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Independent runs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100 (500 for the reward-curve plot)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Averaging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Mean reward per episode over runs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Smoothing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Moving average, window 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Tie-breaking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Random among equal Q-values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Tools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Python, NumPy, Matplotlib (Colab)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Code and figures are in the GitHub repository (CS656-RL-Assignment).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Results: Gridworld and Online Performance</a:t>
            </a:r>
            <a:endParaRPr lang="en-US" sz="2400" dirty="0"/>
          </a:p>
        </p:txBody>
      </p:sp>
      <p:pic>
        <p:nvPicPr>
          <p:cNvPr id="3" name="Image 0" descr="Gridworld with optimal and safer paths next to the Sarsa vs Q-learning reward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05840"/>
            <a:ext cx="8193024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Left: </a:t>
            </a:r>
            <a:r>
              <a:rPr lang="en-US" sz="1200" dirty="0">
                <a:solidFill>
                  <a:schemeClr val="tx1"/>
                </a:solidFill>
              </a:rPr>
              <a:t>gridworld with the optimal path (red) and safer path (blue).  </a:t>
            </a:r>
            <a:r>
              <a:rPr lang="en-US" sz="1200" b="1" dirty="0">
                <a:solidFill>
                  <a:schemeClr val="tx1"/>
                </a:solidFill>
              </a:rPr>
              <a:t>Right: </a:t>
            </a:r>
            <a:r>
              <a:rPr lang="en-US" sz="1200" dirty="0">
                <a:solidFill>
                  <a:schemeClr val="tx1"/>
                </a:solidFill>
              </a:rPr>
              <a:t>online performance, averaged over 100 runs of 500 episodes (ε = 0.1, α = 0.5).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Reproduces the book’s result: Sarsa earns higher reward during learning than Q-learning.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Reward Curves: Sarsa vs Q-learning</a:t>
            </a:r>
            <a:endParaRPr lang="en-US" sz="2400" dirty="0"/>
          </a:p>
        </p:txBody>
      </p:sp>
      <p:pic>
        <p:nvPicPr>
          <p:cNvPr id="3" name="Image 0" descr="Sum of rewards per episode for Sarsa and Q-lear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394960" cy="3468189"/>
          </a:xfrm>
          <a:prstGeom prst="rect">
            <a:avLst/>
          </a:prstGeom>
        </p:spPr>
      </p:pic>
      <p:sp>
        <p:nvSpPr>
          <p:cNvPr id="4" name="sarsa stat"/>
          <p:cNvSpPr/>
          <p:nvPr/>
        </p:nvSpPr>
        <p:spPr>
          <a:xfrm>
            <a:off x="6126480" y="1005840"/>
            <a:ext cx="2560320" cy="1051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≈ −27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Sarsa</a:t>
            </a:r>
            <a:endParaRPr lang="en-US" sz="1300" dirty="0"/>
          </a:p>
        </p:txBody>
      </p:sp>
      <p:sp>
        <p:nvSpPr>
          <p:cNvPr id="7" name="q stat"/>
          <p:cNvSpPr/>
          <p:nvPr/>
        </p:nvSpPr>
        <p:spPr>
          <a:xfrm>
            <a:off x="6126480" y="2194560"/>
            <a:ext cx="2560320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≈ −50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Q-learning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3832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Mean reward over the last 100 episodes, averaged over 500 runs. Both curves rise quickly in about 50 episodes, then stay flat; Q-learning stays lower because exploration keeps pushing it off the cliff.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Learned Greedy Paths</a:t>
            </a:r>
            <a:endParaRPr lang="en-US" sz="2400" dirty="0"/>
          </a:p>
        </p:txBody>
      </p:sp>
      <p:pic>
        <p:nvPicPr>
          <p:cNvPr id="3" name="Image 0" descr="Grid showing the greedy path learned by Sarsa and by Q-lear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394960" cy="3596640"/>
          </a:xfrm>
          <a:prstGeom prst="rect">
            <a:avLst/>
          </a:prstGeom>
        </p:spPr>
      </p:pic>
      <p:sp>
        <p:nvSpPr>
          <p:cNvPr id="4" name="sarsa path card"/>
          <p:cNvSpPr/>
          <p:nvPr/>
        </p:nvSpPr>
        <p:spPr>
          <a:xfrm>
            <a:off x="6035040" y="100584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arsa path card header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7220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Sarsa: safe route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463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Moves up and away from the cliff, crosses along the upper rows, then descends to G (about 17 steps).</a:t>
            </a:r>
            <a:endParaRPr lang="en-US" sz="1300" dirty="0"/>
          </a:p>
        </p:txBody>
      </p:sp>
      <p:sp>
        <p:nvSpPr>
          <p:cNvPr id="8" name="q path card"/>
          <p:cNvSpPr/>
          <p:nvPr/>
        </p:nvSpPr>
        <p:spPr>
          <a:xfrm>
            <a:off x="6035040" y="278892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q path card header"/>
          <p:cNvSpPr/>
          <p:nvPr/>
        </p:nvSpPr>
        <p:spPr>
          <a:xfrm>
            <a:off x="6035040" y="2788920"/>
            <a:ext cx="26517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Q-learning: optimal route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32461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Steps up once, runs along the row directly above the cliff, then drops into G (13 steps).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262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Paths come from one run (seed 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Learned State Values: max Q(s, a)</a:t>
            </a:r>
            <a:endParaRPr lang="en-US" sz="2400" dirty="0"/>
          </a:p>
        </p:txBody>
      </p:sp>
      <p:pic>
        <p:nvPicPr>
          <p:cNvPr id="3" name="Image 0" descr="Heatmaps of learned state values for Sarsa and Q-lear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394960" cy="2997200"/>
          </a:xfrm>
          <a:prstGeom prst="rect">
            <a:avLst/>
          </a:prstGeom>
        </p:spPr>
      </p:pic>
      <p:sp>
        <p:nvSpPr>
          <p:cNvPr id="4" name="values card"/>
          <p:cNvSpPr/>
          <p:nvPr/>
        </p:nvSpPr>
        <p:spPr>
          <a:xfrm>
            <a:off x="6035040" y="1005840"/>
            <a:ext cx="265176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097280"/>
            <a:ext cx="237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How to read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Q-learning values fall steadily from −13 at the start to −1 beside the goal, matching the 13-step optimal path.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Sarsa values are lower along the edge (for example −20 versus −11 in the first cell above the cliff) because it accounts for the risk of falling.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Cliff cells show 0 because they are never learned as states.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Discussion and Conclusion</a:t>
            </a:r>
            <a:endParaRPr lang="en-US" sz="2400" dirty="0"/>
          </a:p>
        </p:txBody>
      </p:sp>
      <p:sp>
        <p:nvSpPr>
          <p:cNvPr id="3" name="disc q"/>
          <p:cNvSpPr/>
          <p:nvPr/>
        </p:nvSpPr>
        <p:spPr>
          <a:xfrm>
            <a:off x="457200" y="1005840"/>
            <a:ext cx="265176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disc q header"/>
          <p:cNvSpPr/>
          <p:nvPr/>
        </p:nvSpPr>
        <p:spPr>
          <a:xfrm>
            <a:off x="457200" y="1005840"/>
            <a:ext cx="26517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Q-learning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63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Learns the optimal path, but behaves ε-greedily while learning, so it falls off the cliff often. Worse online performance.</a:t>
            </a:r>
            <a:endParaRPr lang="en-US" sz="1400" dirty="0"/>
          </a:p>
        </p:txBody>
      </p:sp>
      <p:sp>
        <p:nvSpPr>
          <p:cNvPr id="7" name="disc s"/>
          <p:cNvSpPr/>
          <p:nvPr/>
        </p:nvSpPr>
        <p:spPr>
          <a:xfrm>
            <a:off x="3246120" y="1005840"/>
            <a:ext cx="265176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disc s header"/>
          <p:cNvSpPr/>
          <p:nvPr/>
        </p:nvSpPr>
        <p:spPr>
          <a:xfrm>
            <a:off x="3246120" y="1005840"/>
            <a:ext cx="265176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Sarsa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463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Learns the value of the ε-greedy policy it follows, so it avoids the edge. Longer path but better online performance.</a:t>
            </a:r>
            <a:endParaRPr lang="en-US" sz="1400" dirty="0"/>
          </a:p>
        </p:txBody>
      </p:sp>
      <p:sp>
        <p:nvSpPr>
          <p:cNvPr id="11" name="disc prefer"/>
          <p:cNvSpPr/>
          <p:nvPr/>
        </p:nvSpPr>
        <p:spPr>
          <a:xfrm>
            <a:off x="6035040" y="1005840"/>
            <a:ext cx="265176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disc prefer header"/>
          <p:cNvSpPr/>
          <p:nvPr/>
        </p:nvSpPr>
        <p:spPr>
          <a:xfrm>
            <a:off x="6035040" y="1005840"/>
            <a:ext cx="2651760" cy="38404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When to prefer which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4630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Sarsa: mistakes during learning are costly (safety, online learning).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Q-learning: learning in simulation, or the final greedy policy is what matters.</a:t>
            </a:r>
            <a:endParaRPr lang="en-US" sz="1300" dirty="0"/>
          </a:p>
        </p:txBody>
      </p:sp>
      <p:sp>
        <p:nvSpPr>
          <p:cNvPr id="15" name="conclusion banner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If ε were gradually reduced towards 0, both methods would converge to the optimal policy. The choice of algorithm matters most when exploration is kept constant.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ffWalk">
  <a:themeElements>
    <a:clrScheme name="CliffWalk">
      <a:dk1>
        <a:srgbClr val="1B2733"/>
      </a:dk1>
      <a:lt1>
        <a:srgbClr val="FFFFFF"/>
      </a:lt1>
      <a:dk2>
        <a:srgbClr val="1F3A5F"/>
      </a:dk2>
      <a:lt2>
        <a:srgbClr val="F3F6FA"/>
      </a:lt2>
      <a:accent1>
        <a:srgbClr val="2F6FBF"/>
      </a:accent1>
      <a:accent2>
        <a:srgbClr val="C0392B"/>
      </a:accent2>
      <a:accent3>
        <a:srgbClr val="6B7785"/>
      </a:accent3>
      <a:accent4>
        <a:srgbClr val="2E8B57"/>
      </a:accent4>
      <a:accent5>
        <a:srgbClr val="E8A317"/>
      </a:accent5>
      <a:accent6>
        <a:srgbClr val="8E44AD"/>
      </a:accent6>
      <a:hlink>
        <a:srgbClr val="2F6FBF"/>
      </a:hlink>
      <a:folHlink>
        <a:srgbClr val="6B7785"/>
      </a:folHlink>
    </a:clrScheme>
    <a:fontScheme name="CliffWal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1385</Words>
  <Application>Microsoft Office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CliffWalk</vt:lpstr>
      <vt:lpstr>Cliff Walking: Sarsa vs Q-learning</vt:lpstr>
      <vt:lpstr>Problem Statement: The Cliff Walking Gridworld</vt:lpstr>
      <vt:lpstr>ε-Greedy Action Selection</vt:lpstr>
      <vt:lpstr>The Two Update Rules</vt:lpstr>
      <vt:lpstr>Worked Illustration of One Update</vt:lpstr>
      <vt:lpstr>Path Lengths and the Risk of Falling</vt:lpstr>
      <vt:lpstr>Implementation</vt:lpstr>
      <vt:lpstr>Results: Gridworld and Online Performance</vt:lpstr>
      <vt:lpstr>Reward Curves: Sarsa vs Q-learning</vt:lpstr>
      <vt:lpstr>Learned Greedy Paths</vt:lpstr>
      <vt:lpstr>Learned State Values: max Q(s, a)</vt:lpstr>
      <vt:lpstr>Discussion and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Cliff Walking: Sarsa vs Q-learning</dc:title>
  <dc:subject>PptxGenJS Presentation</dc:subject>
  <dc:creator>PptxGenJS</dc:creator>
  <cp:lastModifiedBy>santhosh kumar</cp:lastModifiedBy>
  <cp:revision>2</cp:revision>
  <dcterms:created xsi:type="dcterms:W3CDTF">2026-10-19T04:55:16Z</dcterms:created>
  <dcterms:modified xsi:type="dcterms:W3CDTF">2026-10-19T04:59:01Z</dcterms:modified>
</cp:coreProperties>
</file>